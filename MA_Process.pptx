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097280"/>
            <a:ext cx="54864" cy="237744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097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M&amp;A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005840" y="19202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6E8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절차 및 프로세스 보고서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Mergers &amp; Acquisitions Procedure Report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206240"/>
            <a:ext cx="9144000" cy="0"/>
          </a:xfrm>
          <a:prstGeom prst="line">
            <a:avLst/>
          </a:prstGeom>
          <a:noFill/>
          <a:ln w="3810">
            <a:solidFill>
              <a:srgbClr val="636E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Corporate Finance Practice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|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M&amp;A 핵심 요약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371600" cy="3200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M&amp;A(인수합병)는 기업의 성장 전략, 시장 확대, 기술 확보 등 다양한 목적으로 추진되며, 체계적이고 전문적인 절차를 통해 성공적으로 완료됩니다.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2496312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057400"/>
            <a:ext cx="2496312" cy="54864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9" name="Shape 7"/>
          <p:cNvSpPr/>
          <p:nvPr/>
        </p:nvSpPr>
        <p:spPr>
          <a:xfrm>
            <a:off x="1613916" y="2286000"/>
            <a:ext cx="548640" cy="548640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10" name="Text 8"/>
          <p:cNvSpPr/>
          <p:nvPr/>
        </p:nvSpPr>
        <p:spPr>
          <a:xfrm>
            <a:off x="1613916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97180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5단계 프로세스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97280" y="3337560"/>
            <a:ext cx="1581912" cy="0"/>
          </a:xfrm>
          <a:prstGeom prst="line">
            <a:avLst/>
          </a:prstGeom>
          <a:noFill/>
          <a:ln w="6350">
            <a:solidFill>
              <a:srgbClr val="C4A3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47472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 수립 → 대상 탐색 → 실사 → 협상/계약 → PMI 통합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19272" y="2057400"/>
            <a:ext cx="2496312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19272" y="2057400"/>
            <a:ext cx="2496312" cy="54864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6" name="Shape 14"/>
          <p:cNvSpPr/>
          <p:nvPr/>
        </p:nvSpPr>
        <p:spPr>
          <a:xfrm>
            <a:off x="4293108" y="2286000"/>
            <a:ext cx="548640" cy="548640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17" name="Text 15"/>
          <p:cNvSpPr/>
          <p:nvPr/>
        </p:nvSpPr>
        <p:spPr>
          <a:xfrm>
            <a:off x="4293108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02152" y="297180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성공 요인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776472" y="3337560"/>
            <a:ext cx="1581912" cy="0"/>
          </a:xfrm>
          <a:prstGeom prst="line">
            <a:avLst/>
          </a:prstGeom>
          <a:noFill/>
          <a:ln w="6350">
            <a:solidFill>
              <a:srgbClr val="C4A3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02152" y="347472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명확한 전략적 목표 설정과 철저한 Due Diligence 실행이 핵심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98464" y="2057400"/>
            <a:ext cx="2496312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98464" y="2057400"/>
            <a:ext cx="2496312" cy="54864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3" name="Shape 21"/>
          <p:cNvSpPr/>
          <p:nvPr/>
        </p:nvSpPr>
        <p:spPr>
          <a:xfrm>
            <a:off x="6972300" y="2286000"/>
            <a:ext cx="548640" cy="548640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24" name="Text 22"/>
          <p:cNvSpPr/>
          <p:nvPr/>
        </p:nvSpPr>
        <p:spPr>
          <a:xfrm>
            <a:off x="697230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81344" y="297180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PMI가 핵심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55664" y="3337560"/>
            <a:ext cx="1581912" cy="0"/>
          </a:xfrm>
          <a:prstGeom prst="line">
            <a:avLst/>
          </a:prstGeom>
          <a:noFill/>
          <a:ln w="6350">
            <a:solidFill>
              <a:srgbClr val="C4A3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81344" y="347472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인수 후 통합(PMI)이 M&amp;A 성공의 70% 이상을 좌우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PROCESS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M&amp;A 절차 개요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371600" cy="3200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17320"/>
            <a:ext cx="1444752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17320"/>
            <a:ext cx="1444752" cy="54864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" y="1645920"/>
            <a:ext cx="548640" cy="548640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9" name="Text 7"/>
          <p:cNvSpPr/>
          <p:nvPr/>
        </p:nvSpPr>
        <p:spPr>
          <a:xfrm>
            <a:off x="1088136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3232" y="27889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전략 수립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310896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474720"/>
            <a:ext cx="896112" cy="0"/>
          </a:xfrm>
          <a:prstGeom prst="line">
            <a:avLst/>
          </a:prstGeom>
          <a:noFill/>
          <a:ln w="6350">
            <a:solidFill>
              <a:srgbClr val="B2BE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61188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4~8주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66544" y="2606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03704" y="1417320"/>
            <a:ext cx="1444752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03704" y="1417320"/>
            <a:ext cx="1444752" cy="54864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7" name="Shape 15"/>
          <p:cNvSpPr/>
          <p:nvPr/>
        </p:nvSpPr>
        <p:spPr>
          <a:xfrm>
            <a:off x="2651760" y="1645920"/>
            <a:ext cx="548640" cy="548640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18" name="Text 16"/>
          <p:cNvSpPr/>
          <p:nvPr/>
        </p:nvSpPr>
        <p:spPr>
          <a:xfrm>
            <a:off x="26517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276856" y="27889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대상 탐색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276856" y="310896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78024" y="3474720"/>
            <a:ext cx="896112" cy="0"/>
          </a:xfrm>
          <a:prstGeom prst="line">
            <a:avLst/>
          </a:prstGeom>
          <a:noFill/>
          <a:ln w="6350">
            <a:solidFill>
              <a:srgbClr val="B2BEC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76856" y="361188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6~12주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30168" y="2606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67328" y="1417320"/>
            <a:ext cx="1444752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67328" y="1417320"/>
            <a:ext cx="1444752" cy="54864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6" name="Shape 24"/>
          <p:cNvSpPr/>
          <p:nvPr/>
        </p:nvSpPr>
        <p:spPr>
          <a:xfrm>
            <a:off x="4215384" y="1645920"/>
            <a:ext cx="548640" cy="548640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27" name="Text 25"/>
          <p:cNvSpPr/>
          <p:nvPr/>
        </p:nvSpPr>
        <p:spPr>
          <a:xfrm>
            <a:off x="4215384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840480" y="27889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실사 (DD)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840480" y="310896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041648" y="3474720"/>
            <a:ext cx="896112" cy="0"/>
          </a:xfrm>
          <a:prstGeom prst="line">
            <a:avLst/>
          </a:prstGeom>
          <a:noFill/>
          <a:ln w="6350">
            <a:solidFill>
              <a:srgbClr val="B2BEC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0" y="361188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8~16주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93792" y="2606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30952" y="1417320"/>
            <a:ext cx="1444752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30952" y="1417320"/>
            <a:ext cx="1444752" cy="54864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5" name="Shape 33"/>
          <p:cNvSpPr/>
          <p:nvPr/>
        </p:nvSpPr>
        <p:spPr>
          <a:xfrm>
            <a:off x="5779008" y="1645920"/>
            <a:ext cx="548640" cy="548640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36" name="Text 34"/>
          <p:cNvSpPr/>
          <p:nvPr/>
        </p:nvSpPr>
        <p:spPr>
          <a:xfrm>
            <a:off x="5779008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04104" y="27889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협상/계약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04104" y="310896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05272" y="3474720"/>
            <a:ext cx="896112" cy="0"/>
          </a:xfrm>
          <a:prstGeom prst="line">
            <a:avLst/>
          </a:prstGeom>
          <a:noFill/>
          <a:ln w="6350">
            <a:solidFill>
              <a:srgbClr val="B2BEC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04104" y="361188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4~8주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757416" y="2606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94576" y="1417320"/>
            <a:ext cx="1444752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94576" y="1417320"/>
            <a:ext cx="1444752" cy="54864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44" name="Shape 42"/>
          <p:cNvSpPr/>
          <p:nvPr/>
        </p:nvSpPr>
        <p:spPr>
          <a:xfrm>
            <a:off x="7342632" y="1645920"/>
            <a:ext cx="548640" cy="548640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45" name="Text 43"/>
          <p:cNvSpPr/>
          <p:nvPr/>
        </p:nvSpPr>
        <p:spPr>
          <a:xfrm>
            <a:off x="7342632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967728" y="27889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PMI 통합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967728" y="310896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168896" y="3474720"/>
            <a:ext cx="896112" cy="0"/>
          </a:xfrm>
          <a:prstGeom prst="line">
            <a:avLst/>
          </a:prstGeom>
          <a:noFill/>
          <a:ln w="6350">
            <a:solidFill>
              <a:srgbClr val="B2BEC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67728" y="361188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6~24개월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소요기간은 일반적인 중간규모 기업 기준이며, 거래 복잡도에 따라 달라질 수 있습니다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28600"/>
            <a:ext cx="548640" cy="3657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전략 수립 (Strategy Formulation)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731520"/>
            <a:ext cx="1371600" cy="3200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M&amp;A 목적 정의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점유율 확대 및 신규 시장 진출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기술력 및 핵심 역량 확보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규모의 경제(Economies of Scale) 실현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수직적/수평적 통합을 통한 시너지 창출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경쟁사 제거 및 방어적 인수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시장 및 산업 분석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71600"/>
          <a:ext cx="3657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분석 항목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주요 방법론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시장 규모/성장성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TAM/SAM/SOM, CAGR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경쟁 구조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Porter's 5 Forces 분석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규제 환경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법률 자문 및 규제기관 검토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기술 트렌드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기술 로드맵, 특허 분석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" y="352044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3520440"/>
            <a:ext cx="54864" cy="82296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593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McKinsey Insight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384048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성공적인 M&amp;A 전략은 '무엇을 인수할 것인가'보다 '왜 인수하는가'에 대한 명확한 답에서 시작됩니다. 전략적 근거가 불분명한 M&amp;A는 실패 확률이 60% 이상 높아집니다.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28600"/>
            <a:ext cx="548640" cy="3657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대상 탐색 및 접근 (Target Screening)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731520"/>
            <a:ext cx="1371600" cy="3200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스크리닝 프로세스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3840480" cy="5943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List (50~100개)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64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 DB, M&amp;A 자문사 네트워크 활용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05840" y="2240280"/>
            <a:ext cx="3108960" cy="59436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240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List (5~10개)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5420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 성과, 전략적 적합성 평가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71600" y="3017520"/>
            <a:ext cx="2377440" cy="5943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(1~3개)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3319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Matrix 기반 최종 선정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LOI(의향서) 핵심 항목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71600"/>
          <a:ext cx="3657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인수 가격 범위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가격 범위 또는 산정 방법론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실사 범위/기간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 범위, 일정, 협조 사항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독점 협상권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일정 기간 타 협상 금지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비밀유지(NDA)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정보 보호 범위 및 의무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거래 구조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주식/자산 인수, 지분율 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0080" y="3749040"/>
            <a:ext cx="54864" cy="82296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" y="3822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Tip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14400" y="406908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단계에서 독점 협상권(Exclusivity)을 확보하여 경쟁적 입찰을 방지하고, 보다 심층적인 실사와 협상에 집중할 수 있습니다.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28600"/>
            <a:ext cx="548640" cy="3657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실사 (Due Diligence)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731520"/>
            <a:ext cx="1371600" cy="32004"/>
          </a:xfrm>
          <a:prstGeom prst="rect">
            <a:avLst/>
          </a:prstGeom>
          <a:solidFill>
            <a:srgbClr val="C4A35A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297680"/>
                <a:gridCol w="2011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실사 영역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주요 검토 항목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담당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재무 실사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재무제표 분석, 수익성 검증, 운전자본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회계법인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법률 실사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계약, 소송 위험, 지적재산권, 규제 준수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법무법인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세무 실사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세무 위험, 구조 최적화, 이전가격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세무법인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영업 실사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시장 위치, 고객 분석, 경쟁력, 성장 전망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경영 컨설팅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기술 실사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시스템, R&amp;D, 특허 평가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기술 전문가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인사/조직 실사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인재, 보상체계, 조직문화, 노사관계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컨설턴트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환경 실사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환경 오염, 규제 준수, ESG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환경 컨설턴트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가치평가 방법론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7947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(현금흐름 할인)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유사기업 비교법 (EV/EBITDA)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선행 거래 비교법 / 순자산가치법(NAV)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46320" y="3520440"/>
            <a:ext cx="3657600" cy="1051560"/>
          </a:xfrm>
          <a:prstGeom prst="rect">
            <a:avLst/>
          </a:prstGeom>
          <a:solidFill>
            <a:srgbClr val="FFF8E7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3520440"/>
            <a:ext cx="54864" cy="105156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2" name="Text 9"/>
          <p:cNvSpPr/>
          <p:nvPr/>
        </p:nvSpPr>
        <p:spPr>
          <a:xfrm>
            <a:off x="5120640" y="3584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Deal Breaker 기준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120640" y="3886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분식회계, 중대 법적 소송, 핵심 고객 이탈 위험, 환경 오염 등 거래 중단 사유에 대한 기준을 사전에 수립해야 합니다.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28600"/>
            <a:ext cx="548640" cy="3657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협상 및 계약 체결 (Negotiation &amp; Closing)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731520"/>
            <a:ext cx="1371600" cy="3200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주요 협상 사항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39319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463040"/>
            <a:ext cx="54864" cy="54864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4904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 조정 메커니즘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737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Earn-out, 운전자본 조정, Escrow 계정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148840"/>
            <a:ext cx="39319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148840"/>
            <a:ext cx="54864" cy="54864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1762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 구조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423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주식인수 vs 자산인수, 합병 방식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834640"/>
            <a:ext cx="39319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834640"/>
            <a:ext cx="54864" cy="54864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8620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선행조건(CP)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108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규제 승인, 주주 동의, MAC 조항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 주요 조항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71600"/>
          <a:ext cx="3657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진술/보장 (R&amp;W)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기업 상태 진술과 보장 조항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손해배상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위반 시 배상 범위 및 한도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경업금지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매도인 경쟁 제한 기간/범위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선행조건 (CP)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거래 완료 전 충족 조건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 조항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중대 부정적 변화 시 취소 권한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640080" y="361188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3611880"/>
            <a:ext cx="7863840" cy="5486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24" name="Text 21"/>
          <p:cNvSpPr/>
          <p:nvPr/>
        </p:nvSpPr>
        <p:spPr>
          <a:xfrm>
            <a:off x="914400" y="3730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규제기관 승인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14400" y="39776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 규모와 산업에 따라 공정거래위원회 기업결합 신고, 금융위원회 승인, 외국인투자 신고 등 관련 규제 절차 필요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28600"/>
            <a:ext cx="548640" cy="3657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PMI - 인수 후 통합 (Post-Merger Integration)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731520"/>
            <a:ext cx="1371600" cy="32004"/>
          </a:xfrm>
          <a:prstGeom prst="rect">
            <a:avLst/>
          </a:prstGeom>
          <a:solidFill>
            <a:srgbClr val="C4A35A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20624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통합 영역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주요 활동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소요기간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1 준비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커뮤니케이션 계획, 임시 운영체계, 핵심인재 유지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Closing 전 4~8주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조직 통합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조직구조 설계, 인사제도, 문화 통합 프로그램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3~12개월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업무 통합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영업/구매/생산 통합, 공급망 최적화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3~18개월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IT/시스템 통합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ERP, CRM 등 핵심 시스템 통합, 데이터 이관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6~24개월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시너지 실현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비용/매출 시너지, 교차판매 시행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6~24개월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PMI 성공 요인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520440"/>
            <a:ext cx="25603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3520440"/>
            <a:ext cx="45720" cy="4572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5478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커뮤니케이션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37581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임직원 대상 비전 공유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383280" y="3520440"/>
            <a:ext cx="25603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83280" y="3520440"/>
            <a:ext cx="45720" cy="4572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5" name="Text 12"/>
          <p:cNvSpPr/>
          <p:nvPr/>
        </p:nvSpPr>
        <p:spPr>
          <a:xfrm>
            <a:off x="3566160" y="35478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(속도)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566160" y="37581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100일 골든타임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126480" y="3520440"/>
            <a:ext cx="25603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26480" y="3520440"/>
            <a:ext cx="45720" cy="4572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9" name="Text 16"/>
          <p:cNvSpPr/>
          <p:nvPr/>
        </p:nvSpPr>
        <p:spPr>
          <a:xfrm>
            <a:off x="6309360" y="35478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핵심인재 유지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09360" y="37581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리텐션 패키지 운영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40080" y="4114800"/>
            <a:ext cx="25603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0080" y="4114800"/>
            <a:ext cx="45720" cy="4572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41422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문화 통합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22960" y="435254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점진적 문화 융합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383280" y="4114800"/>
            <a:ext cx="25603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383280" y="4114800"/>
            <a:ext cx="45720" cy="4572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27" name="Text 24"/>
          <p:cNvSpPr/>
          <p:nvPr/>
        </p:nvSpPr>
        <p:spPr>
          <a:xfrm>
            <a:off x="3566160" y="41422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운영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566160" y="435254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전담 통합조직 설치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M&amp;A 성공 프레임워크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97280" cy="3200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34440"/>
            <a:ext cx="1874520" cy="22860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전략적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명확성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377440"/>
            <a:ext cx="1325880" cy="0"/>
          </a:xfrm>
          <a:prstGeom prst="line">
            <a:avLst/>
          </a:prstGeom>
          <a:noFill/>
          <a:ln w="6350">
            <a:solidFill>
              <a:srgbClr val="C4A3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146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인수 목적과 기업 전략의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정합성 확보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1234440"/>
            <a:ext cx="1874520" cy="22860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371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43200" y="1828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철저한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실사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26080" y="2377440"/>
            <a:ext cx="1325880" cy="0"/>
          </a:xfrm>
          <a:prstGeom prst="line">
            <a:avLst/>
          </a:prstGeom>
          <a:noFill/>
          <a:ln w="6350">
            <a:solidFill>
              <a:srgbClr val="C4A3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25146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재무/법률/세무/영업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방위 분석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234440"/>
            <a:ext cx="1874520" cy="22860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371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0" y="1828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적정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가격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37760" y="2377440"/>
            <a:ext cx="1325880" cy="0"/>
          </a:xfrm>
          <a:prstGeom prst="line">
            <a:avLst/>
          </a:prstGeom>
          <a:noFill/>
          <a:ln w="6350">
            <a:solidFill>
              <a:srgbClr val="C4A3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5146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복수 Valuation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방법론 기반 산정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75120" y="1234440"/>
            <a:ext cx="1874520" cy="22860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1371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66560" y="1828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신속한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49440" y="2377440"/>
            <a:ext cx="1325880" cy="0"/>
          </a:xfrm>
          <a:prstGeom prst="line">
            <a:avLst/>
          </a:prstGeom>
          <a:noFill/>
          <a:ln w="6350">
            <a:solidFill>
              <a:srgbClr val="C4A3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25146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100일 내 핵심 시너지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실현 및 조직 안정화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 성공률을 높이는 가장 중요한 요소는 '속도(Speed)'입니다. 통합 초기 100일 내 빠른 의사결정과 실행을 보인 기업이 2배 이상의 시너지를 실현합니다.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526280"/>
            <a:ext cx="7863840" cy="0"/>
          </a:xfrm>
          <a:prstGeom prst="line">
            <a:avLst/>
          </a:prstGeom>
          <a:noFill/>
          <a:ln w="3810">
            <a:solidFill>
              <a:srgbClr val="636E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보고서는 일반적인 M&amp;A 절차에 대한 참고 자료이며, 실제 M&amp;A 추진 시에는 전문 자문사의 조력을 받으시기 바랍니다.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M&amp;A 절차 및 프로세스 보고서</dc:title>
  <dc:subject>PptxGenJS Presentation</dc:subject>
  <dc:creator>Strategy &amp; Corporate Finance Practice</dc:creator>
  <cp:lastModifiedBy>Strategy &amp; Corporate Finance Practice</cp:lastModifiedBy>
  <cp:revision>1</cp:revision>
  <dcterms:created xsi:type="dcterms:W3CDTF">2026-03-04T09:42:17Z</dcterms:created>
  <dcterms:modified xsi:type="dcterms:W3CDTF">2026-03-04T09:42:17Z</dcterms:modified>
</cp:coreProperties>
</file>